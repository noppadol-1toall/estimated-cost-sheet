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57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2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914400" cy="146304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/ TRAINING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634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</a:t>
            </a:r>
            <a:r>
              <a:rPr lang="en-US" sz="4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 Estimated Cost Sheet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2E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สร้างใบประเมินราคา → ขออนุมัติ → ออกใบเสนอราคา ทีละขั้นตอน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99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สำหรับทีมขายและพรีเซล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ภาพรวมเมนู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หน้าจอหลักที่ใช้บ่อย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2103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64008" cy="210312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95528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ประเมินราคา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04288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รายการใบประเมิน + ปุ่มสร้าง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645920"/>
            <a:ext cx="2567178" cy="2103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64008" cy="210312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3637026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ตัวแก้ไข (Editor)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37026" y="2304288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หัวเรื่อง + แท็บ BOQ/ติดตั้ง/OPR/สรุป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1645920"/>
            <a:ext cx="2567178" cy="2103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6231636" y="1645920"/>
            <a:ext cx="64008" cy="210312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6478524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ใบเสนอราคา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78524" y="2304288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แปลงจากใบที่อนุมัติ + ส่งอีเมล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73134" y="1645920"/>
            <a:ext cx="2567178" cy="210312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9073134" y="1645920"/>
            <a:ext cx="64008" cy="210312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9320022" y="1847088"/>
            <a:ext cx="2109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ข้อมูลอ้างอิง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320022" y="2304288"/>
            <a:ext cx="21099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อัตราแลกเปลี่ยน + แคตตาล็อกสินค้า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ภาพรวมขั้นตอน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ทำใบประเมินทั้งหมด 6 ขั้น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680972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96896"/>
            <a:ext cx="13700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+ กรอกหัวเรื่อง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0780" y="1920240"/>
            <a:ext cx="1680972" cy="1463040"/>
          </a:xfrm>
          <a:prstGeom prst="roundRect">
            <a:avLst>
              <a:gd name="adj" fmla="val 5000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2613660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261366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95372" y="2596896"/>
            <a:ext cx="13700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ใส่รายการ BOQ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12920" y="1920240"/>
            <a:ext cx="1680972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4495800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44958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77512" y="2596896"/>
            <a:ext cx="13700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ค่าติดตั้ง &amp; OPR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5060" y="1920240"/>
            <a:ext cx="1680972" cy="1463040"/>
          </a:xfrm>
          <a:prstGeom prst="roundRect">
            <a:avLst>
              <a:gd name="adj" fmla="val 5000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 16"/>
          <p:cNvSpPr/>
          <p:nvPr/>
        </p:nvSpPr>
        <p:spPr>
          <a:xfrm>
            <a:off x="6377940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637794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9652" y="2596896"/>
            <a:ext cx="13700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ดูสรุป P&amp;L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77200" y="1920240"/>
            <a:ext cx="1680972" cy="146304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 20"/>
          <p:cNvSpPr/>
          <p:nvPr/>
        </p:nvSpPr>
        <p:spPr>
          <a:xfrm>
            <a:off x="8260080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826008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41792" y="2596896"/>
            <a:ext cx="13700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ใบประเมิน + ขออนุมัติ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59340" y="1920240"/>
            <a:ext cx="1680972" cy="1463040"/>
          </a:xfrm>
          <a:prstGeom prst="roundRect">
            <a:avLst>
              <a:gd name="adj" fmla="val 5000"/>
            </a:avLst>
          </a:prstGeom>
          <a:solidFill>
            <a:srgbClr val="FBE7E6"/>
          </a:solidFill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 24"/>
          <p:cNvSpPr/>
          <p:nvPr/>
        </p:nvSpPr>
        <p:spPr>
          <a:xfrm>
            <a:off x="10142220" y="2103120"/>
            <a:ext cx="420624" cy="420624"/>
          </a:xfrm>
          <a:prstGeom prst="ellipse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101422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123932" y="2596896"/>
            <a:ext cx="13700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แปลงใบเสนอราคา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ระบบบันทึกอัตโนมัติเมื่อกด 'บันทึก' — แนะนำบันทึกบ่อยระหว่างทำ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+ กรอกข้อมูลหัวเรื่อง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ประเมินราคา → ปุ่ม 'สร้าง' → เข้าหน้าตัวแก้ไขทันที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กรอก: Organization (ลูกค้า), Project, Type of Service/Project, Payment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ระบุ ระยะสัญญา (เดือน) + วันเริ่มสัญญา → วันสิ้นสุดคำนวณให้อัตโนมัติ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ค่าเริ่มต้นช่องที่ยังไม่กรอกเป็น '-' (เลือกภายหลังได้)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เคล็ดลับ: ตั้งชื่อ Project ให้สื่อ เพื่อค้นหาง่ายในรายการ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ใส่รายการ BOQ (OTC / MRC)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 'รายการ' มี 2 ตาราง: ครั้งเดียว (OTC) และ รายเดือน (MRC)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เพิ่มรายการจากแคตตาล็อก (ค้นหา) หรือกรอกเอง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 จำนวน, ต้นทุน/หน่วย, ราคาขาย/หน่วย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เลือกสกุลเงิน → ดึงอัตราแลกเปลี่ยนปัจจุบันให้อัตโนมัติ แล้วแปลงเป็น THB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ยอด 'รวม (THB)' = จำนวน × ราคาขาย × FX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ค่าติดตั้ง &amp; PM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 'ค่าติดตั้ง &amp; PM' — ใส่รายการค่าติดตั้ง และค่า PM/CM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ผลรวม 'ค่าติดตั้ง' → ไหลเข้า OPR-100001 อัตโนมัติ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ผลรวม 'ค่า PM' → ไหลเข้า OPR-100005 อัตโนมัติ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ไม่ต้องกรอกซ้ำในแท็บค่าดำเนินการ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ค่าดำเนินการ (OPR)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กรอกตัวเลขที่ช่อง 'จำนวนเงิน' (เช่น ขนส่ง, อบรม, อุปกรณ์สำรอง, ค่ารับรอง)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ช่องที่ขึ้น 'auto' = ระบบดึง/คำนวณให้ (ดอกเบี้ย, Bid/Performance Bond, การตลาด, ใบอนุญาต, Overhead)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Bid Bond: เปิดใช้แล้วใส่จำนวนเดือน (ค่าเริ่ม 1)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Overhead: เลือกระดับโครงการ (ค่าเริ่ม โครงการปกติ 5%)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ดูสรุป P&amp;L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TCV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มูลค่ารวมสัญญา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138" y="173736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3481578" y="193852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Gross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54730" y="269748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กำไรขั้นต้น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73736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6323076" y="193852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Net (NPV)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96228" y="269748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กำไรสุทธิ + มาร์จิ้น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3134" y="1737360"/>
            <a:ext cx="2567178" cy="155448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9164574" y="1938528"/>
            <a:ext cx="238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Payback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37726" y="2697480"/>
            <a:ext cx="22379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ระยะคืนทุน (เดือน)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ตรวจมาร์จิ้นที่นี่ก่อนเสมอ — ถ้าต่ำเกินเกณฑ์ ควรทบทวนราคา/ต้นทุนก่อนขออนุมัติ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ใบประเมินต้นทุน (Cost Sheet)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'ใบประเมินราคา' บนหัวหน้า → เปิดหน้าใบประเมินเต็ม A4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ตรวจรายละเอียดทั้งหมด (หัวเรื่อง, OTC, OPR, MRC, สรุปการเงิน, ช่องเซ็น)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'พิมพ์ / บันทึก PDF' เพื่อพิมพ์หรือบันทึกเป็น PDF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'ส่งขออนุมัติ' เพื่อเข้าสู่ขั้นอนุมัติ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ขออนุมัติ → ใบเสนอราคา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62956" cy="548640"/>
          </a:xfrm>
          <a:prstGeom prst="rect">
            <a:avLst/>
          </a:prstGeom>
          <a:solidFill>
            <a:srgbClr val="16284F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ขออนุมัติ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ระบบเลือกผู้อนุมัติตามมาร์จิ้น + วงเงิน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ยืนยันในกล่อง (เห็นมูลค่ารวม VAT/มาร์จิ้น/ผู้อนุมัติ)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สถานะเปลี่ยนเป็น 'submitted'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362956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6277356" y="1554480"/>
            <a:ext cx="5362956" cy="5486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6460236" y="1554480"/>
            <a:ext cx="49971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แปลงเป็นใบเสนอราคา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05956" y="2267712"/>
            <a:ext cx="490575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เมื่ออนุมัติแล้ว กด 'แปลงเป็น Quotation'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ระบบออกเลข QT-ปีเดือน-ลำดับ ให้เอง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เปิดหน้าใบเสนอราคา → ส่งอีเมลถึงลูกค้า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ข้อมูลอ้างอิง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อัตราแลกเปลี่ยน &amp; แคตตาล็อก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4344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008" cy="23774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อัตราแลกเปลี่ยน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395728"/>
            <a:ext cx="3057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Settings → 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Exchange Rate</a:t>
            </a:r>
            <a:b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b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</a:b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เพิ่มช่วงใหม่</a:t>
            </a:r>
            <a:r>
              <a:rPr lang="th-TH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ไม่กำหนด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End Date </a:t>
            </a:r>
            <a:r>
              <a:rPr lang="en-US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  <a:sym typeface="Wingdings" panose="05000000000000000000" pitchFamily="2" charset="2"/>
              </a:rPr>
              <a:t></a:t>
            </a:r>
            <a:r>
              <a:rPr lang="th-TH" sz="110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  <a:sym typeface="Wingdings" panose="05000000000000000000" pitchFamily="2" charset="2"/>
              </a:rPr>
              <a:t> ใช้ได้ตลอด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7304" y="1737360"/>
            <a:ext cx="3514344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4337304" y="1737360"/>
            <a:ext cx="64008" cy="23774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4584192" y="193852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แคตตาล็อกสินค้า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84192" y="2395728"/>
            <a:ext cx="3057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สินค้า/แคตตาล็อก; นำเข้า CSV และค้นหาใส่ BOQ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25968" y="1737360"/>
            <a:ext cx="3514344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C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8125968" y="1737360"/>
            <a:ext cx="64008" cy="2377440"/>
          </a:xfrm>
          <a:prstGeom prst="rect">
            <a:avLst/>
          </a:prstGeom>
          <a:solidFill>
            <a:srgbClr val="E833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8372856" y="1938528"/>
            <a:ext cx="3057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ใครดูแล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72856" y="2395728"/>
            <a:ext cx="3057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1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มอบหมายผู้รับผิดชอบอัปเดตเรต/ราคาสินค้าให้เป็นปัจจุบัน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ทิป &amp; สิ่งที่ต้องเช็ก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'มาร์จิ้นสุทธิ' ก่อนส่งขออนุมัติทุกครั้ง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ตรวจสกุลเงิน/FX ของรายการนำเข้าให้ถูกต้อง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บันทึกบ่อยระหว่างแก้ไข กันข้อมูลหาย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แก้ไขได้เฉพาะสถานะ draft — เมื่อส่งอนุมัติแล้วจะล็อก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วันที่ทั้งระบบเป็นรูปแบบ วัน-เดือน-ปี (DD-MM-YYYY)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28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พร้อมเริ่มใช้งาน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0152" y="384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1to</a:t>
            </a:r>
            <a:r>
              <a:rPr lang="en-US" sz="1600" b="1" dirty="0">
                <a:solidFill>
                  <a:srgbClr val="E833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2377440"/>
          </a:xfrm>
          <a:prstGeom prst="rect">
            <a:avLst/>
          </a:prstGeom>
          <a:solidFill>
            <a:srgbClr val="FBE7E6"/>
          </a:solidFill>
          <a:ln w="12700">
            <a:solidFill>
              <a:srgbClr val="E8332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ขั้น</a:t>
            </a:r>
            <a:r>
              <a:rPr lang="th-TH" sz="1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 </a:t>
            </a:r>
            <a:r>
              <a:rPr lang="en-US" sz="1700" b="1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: </a:t>
            </a:r>
            <a:r>
              <a:rPr lang="en-US" sz="1700" b="1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→ BOQ → ติดตั้ง/OPR → ดูมาร์จิ้น → ใบประเมิน → อนุมัติ/ใบเสนอราคา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ลองสร้างใบประเมินทดสอบ 1 ใบตั้งแต่ต้นจนจบ เพื่อคุ้นเคยทั้งกระบวนการ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0177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คู่มือใช้งาน ECS · ทีมขาย/พรีเซล · 1-TO-ALL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73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953</Words>
  <Application>Microsoft Office PowerPoint</Application>
  <PresentationFormat>Widescreen</PresentationFormat>
  <Paragraphs>151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EstiMate Compass - User Guide</dc:title>
  <dc:subject>PptxGenJS Presentation</dc:subject>
  <dc:creator>1-TO-ALL</dc:creator>
  <cp:lastModifiedBy>Noppadol Sanmaneechai (Neung)</cp:lastModifiedBy>
  <cp:revision>5</cp:revision>
  <dcterms:created xsi:type="dcterms:W3CDTF">2026-06-22T02:31:07Z</dcterms:created>
  <dcterms:modified xsi:type="dcterms:W3CDTF">2026-06-22T02:43:31Z</dcterms:modified>
</cp:coreProperties>
</file>